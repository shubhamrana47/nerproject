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74320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RESEARCH &amp; ENGINEERING PRESENTATION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AgNER: Agricultural Named Entity Recognition &amp; Human-in-the-Loop Annotation Suite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A Complete End-to-End System Architecture: Fine-Tuned RoBERTa (AgNER-BERTa), On-Demand Passage Workbench, 37 Agricultural Taxonomies, and Character-Exact Dataset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062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TECH STACK &amp; CORE SPECIFICATIONS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Model: RoBERTa-base (512 tokens, 73 logits BIO head, ESWA 2025 Paper Architecture)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Frontend: React 18, Vite, Tailwind CSS, DOM Range Character-Exact Selection Engine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Backend &amp; API: Node.js, Express, Mongoose, Sliding Window Prediction, Non-destructive Granular State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AI Service: FastAPI, PyTorch (CPU Thread-Throttled, micro-batched), Hugging Face Transformers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Datasets &amp; Storage: Headered JSONL, MongoDB Atlas, CoNLL BIO, Label Studio Tasks, Single-File Enriched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DOMAIN ANALYSIS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The Challenge: Extracting Knowledge from Agricultural Advisories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general LLMs and vanilla NLP models fail on domain-specific farmer bulletins and agricultural research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2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064E3B"/>
                </a:solidFill>
              </a:defRPr>
            </a:pPr>
            <a:r>
              <a:t>1. Dense Agronomic Jargon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Mixed Taxonomy: Advisories combine vernacular varieties (PBW 752, Pusa Basmati), chemical actives, local weed names, and meteorological conditions.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Overlapping Categories: A term like 'DAP' or 'Urea' is a Chemical, Fertilizer, and Nutrient depending on context.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Sentence Discontinuity: Traditional sentence splitting breaks advisory contexts where conditions depend on preceding sentences.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2. LLM &amp; Pretrained Limitations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Hallucinated Boundaries: Generative LLMs (ChatGPT, Gemini) do not emit verified character-level byte/string offsets required for downstream training.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Latency &amp; Financial Cost: Running multi-billion parameter LLMs across hundreds of thousands of state advisory bulletins is computationally prohibitive.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No Ground Truth Verification: Model guesses cannot be treated as gold ground truth without human verification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The AgNER Solution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Domain-Specialized Encoder: AgNER-BERTa fine-tuned directly on agricultural corpora achieving superior token classification.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Human-in-the-Loop Workbench: On-demand sliding window prediction with zero initial upload wait time.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Character-Exact Engineering: Guaranteed offset fidelity (DOM Range offsets), negative example preservation, and audit-ready data provenance.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ARCHITECTURE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Tripartite System Architecture: Decoupled Full-Stack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Clean separation of concerns between reactive user interface, stateful REST orchestrator, and high-performance ML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3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Client Tier</a:t>
            </a:r>
            <a:br/>
            <a:r>
              <a:t>(Annotation Workbench)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React 18 + Vite + Tailwind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Passage reader with numbered gutter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Left span management deck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Right 37-entity taxonomy rail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DOM Range character offset engine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Optimistic UI &amp; background FIFO queue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One-click dataset exporter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API &amp; State Tier</a:t>
            </a:r>
            <a:br/>
            <a:r>
              <a:t>(Backend Orchestrator)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Node.js + Express + Mongoose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Document ingestion &amp; header parsing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Sliding-window prediction manager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Granular line-level persistence (PUT)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Immutable model resets (POST)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DatasetBuilder (BIO, HF, CoNLL)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Round-trip import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Inference Tier</a:t>
            </a:r>
            <a:br/>
            <a:r>
              <a:t>(AgNER AI Engine)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FastAPI + PyTorch + HF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RoBERTa-base token classification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512 token context windowing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200-word chunking &amp; subword mapping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Softmax token-level confidence averaging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CPU multi-thread throttling (2 vCPU)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Micro-batching (5-passage chunks)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Storage Tier</a:t>
            </a:r>
            <a:br/>
            <a:r>
              <a:t>(Persistence &amp; Artifacts)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MongoDB Atlas + JSONL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Document &amp; Segment schemas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Immutable originalEntities copy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Active entities with provenance tags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Headered JSONL advisory files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Label Studio export XML/JSON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Versioned data manifest (schema 1.1)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MACHINE 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AgNER-BERTa: Transformer Token Classification for Agronomy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Grounded in published research: fine-tuned encoder models with domain data augmentation outperform ChatGPT in Agri-NER.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4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Model Specifications &amp; Token Head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Base Backbone: </a:t>
            </a:r>
            <a:r>
              <a:rPr b="0">
                <a:solidFill>
                  <a:srgbClr val="64748B"/>
                </a:solidFill>
              </a:rPr>
              <a:t>RoBERTa-base (12 layers, 768 hidden dimension, 12 attention heads, ~125M parameters)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Max Sequence Length: </a:t>
            </a:r>
            <a:r>
              <a:rPr b="0">
                <a:solidFill>
                  <a:srgbClr val="64748B"/>
                </a:solidFill>
              </a:rPr>
              <a:t>512 subword tokens per forward pass with sliding 200-word chunking window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Classification Head: </a:t>
            </a:r>
            <a:r>
              <a:rPr b="0">
                <a:solidFill>
                  <a:srgbClr val="64748B"/>
                </a:solidFill>
              </a:rPr>
              <a:t>73 Linear Output Logits: 'O' (Outside) + 36 Entity Classes × 2 (B-Begin, I-Inside)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Token-to-Word Alignment: </a:t>
            </a:r>
            <a:r>
              <a:rPr b="0">
                <a:solidFill>
                  <a:srgbClr val="64748B"/>
                </a:solidFill>
              </a:rPr>
              <a:t>Encodes split words with add_prefix_space=True; assigns first subtoken prediction to word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Confidence Metric: </a:t>
            </a:r>
            <a:r>
              <a:rPr b="0">
                <a:solidFill>
                  <a:srgbClr val="64748B"/>
                </a:solidFill>
              </a:rPr>
              <a:t>Softmax probability over predicted class, averaged across constituent entity tokens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Scientific Foundation: </a:t>
            </a:r>
            <a:r>
              <a:rPr b="0">
                <a:solidFill>
                  <a:srgbClr val="64748B"/>
                </a:solidFill>
              </a:rPr>
              <a:t>Published in Expert Systems with Applications (ESWA 2025): 'Fine-tuned encoder models with data augmentation beat ChatGPT in agricultural named entity recognition'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Inference Pipeline &amp; Boundary Sanitation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Chunking Algorithm: </a:t>
            </a:r>
            <a:r>
              <a:rPr b="0">
                <a:solidFill>
                  <a:srgbClr val="64748B"/>
                </a:solidFill>
              </a:rPr>
              <a:t>Regex word splitting with finditer(r'\S+'). Chunks capped at CHUNK_WORDS (200 words) to guarantee &lt; 512 subwords without truncation loss.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No-Grad Evaluation: </a:t>
            </a:r>
            <a:r>
              <a:rPr b="0">
                <a:solidFill>
                  <a:srgbClr val="64748B"/>
                </a:solidFill>
              </a:rPr>
              <a:t>Executed under @torch.inference_mode() with low_cpu_mem_usage=True, avoiding graph allocation.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Punctuation Trimming: </a:t>
            </a:r>
            <a:r>
              <a:rPr b="0">
                <a:solidFill>
                  <a:srgbClr val="64748B"/>
                </a:solidFill>
              </a:rPr>
              <a:t>Heuristic post-processing automatically contracts trailing sentence delimiters (.,;:!?)"'). Words like 'yellow rust.' cleanly isolate 'yellow rust'.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Multi-Thread Throttling: </a:t>
            </a:r>
            <a:r>
              <a:rPr b="0">
                <a:solidFill>
                  <a:srgbClr val="64748B"/>
                </a:solidFill>
              </a:rPr>
              <a:t>torch.set_num_threads(2) &amp; interop=1 to prevent thread contention and vCPU saturation in shared cloud container environments.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Provenance Injection: </a:t>
            </a:r>
            <a:r>
              <a:rPr b="0">
                <a:solidFill>
                  <a:srgbClr val="64748B"/>
                </a:solidFill>
              </a:rPr>
              <a:t>Output entities tagged with tag: 'NER_LABELLED', labelled_by: 'NER Model', source: 'model', status: 'accepted' with calibrated float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DOMAIN TAXONOMY &amp;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37 Canonical Agricultural Entities Across 7 Functional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Standardized schema ensuring comprehensive coverage from agronomy and pathology to weather, policies, and farm equipment.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5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Crops &amp; Agriculture (5)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Crop, Fruit, Vegetable, Food_Item, Soil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Wheat, PBW 752, Maize, Basmati, Sandy Loam, Clay Soil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E11D48"/>
                </a:solidFill>
              </a:defRPr>
            </a:pPr>
            <a:r>
              <a:t>Pests &amp; Pathology (4)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Disease, Organism, Agri_Pollution, Agri_Waste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Yellow Rust, Stem Borer, Aphids, Whitefly, Stubble Burning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Treatments &amp; Inputs (3)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Chemical, Treatment, Nutrient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Urea, DAP, Imidacloprid, Fungicide Spray, Nitrogen, Potash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60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Meteorology &amp; Climate (7)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Weather, Rainfall, Temp, Humidity, Season, Natural_Disaster, Natural_Resource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Monsoon, Frost, 28°C, 85% RH, Kharif, Drought, Groundwater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7C3AED"/>
                </a:solidFill>
              </a:defRPr>
            </a:pPr>
            <a:r>
              <a:t>Quantities &amp; Time (7)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Quantity, Other_Quantity, Field_Area, Duration, Money, Date_and_Time, Event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55 kg DAP, 2.5 acres, 15 days, ₹1200, Mid-December, Sowing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862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Entities &amp; Agents (4)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Person, Organization, Location, Policy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PAU Ludhiana, ICAR, Punjab, Extension Officer, PM-KISAN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8862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D97706"/>
                </a:solidFill>
              </a:defRPr>
            </a:pPr>
            <a:r>
              <a:t>Methods &amp; Machinery (7)</a:t>
            </a:r>
          </a:p>
          <a:p>
            <a:pPr>
              <a:spcBef>
                <a:spcPts val="400"/>
              </a:spcBef>
              <a:defRPr sz="900" b="1">
                <a:solidFill>
                  <a:srgbClr val="1E293B"/>
                </a:solidFill>
              </a:defRPr>
            </a:pPr>
            <a:r>
              <a:t>Classes: Agri_Equipment, Agri_Method, Agri_Process, Technology, ML_Model, Citation, Other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Examples: Happy Seeder, Super Seeder, Rotavator, Drip Irrigation, Tillering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886200"/>
            <a:ext cx="3337560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50" b="1">
                <a:solidFill>
                  <a:srgbClr val="E11D48"/>
                </a:solidFill>
              </a:defRPr>
            </a:pPr>
            <a:r>
              <a:t>Key Architectural Detail: Agri_Equipment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37th Entity Class added for farm machinery (happy seeder, super seeder, rotavator).</a:t>
            </a:r>
            <a:br/>
            <a:r>
              <a:t>• Model checkpoint head remains 36 classes (73 logits). Agri_Equipment is an 'annotator-only' class.</a:t>
            </a:r>
            <a:br/>
            <a:r>
              <a:t>• In exports, always tagged with source: 'human', verified: true, ensuring zero model drift while capturing vital tractor &amp; machinery entities.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DATA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Advisory Ingestion &amp; Zero-Wait Headered JSONL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Reduced file upload time from several minutes to 67ms by completely decoupling ingestion from model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6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The Ingestion Architecture Overhaul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Old Bottleneck: </a:t>
            </a:r>
            <a:r>
              <a:rPr b="0">
                <a:solidFill>
                  <a:srgbClr val="64748B"/>
                </a:solidFill>
              </a:rPr>
              <a:t>Legacy systems ran full model predictions at document upload time. A 323-passage file froze the UI for 3-5 minutes, leading to proxy timeouts (502 Bad Gateway) and wasted GPU/CPU cycles on unviewed passages.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New Decoupled Pipeline: </a:t>
            </a:r>
            <a:r>
              <a:rPr b="0">
                <a:solidFill>
                  <a:srgbClr val="64748B"/>
                </a:solidFill>
              </a:rPr>
              <a:t>Upload only parses text and header metadata into MongoDB, marking status: 'pending'. The 323-passage file now opens in 67 milliseconds.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First-Class Advisory Metadata: </a:t>
            </a:r>
            <a:r>
              <a:rPr b="0">
                <a:solidFill>
                  <a:srgbClr val="64748B"/>
                </a:solidFill>
              </a:rPr>
              <a:t>Extracts passage_id, passage_tag, crops, stages, and subjects. Carries them intact through UI display down to final export files.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Universal Format Support: </a:t>
            </a:r>
            <a:r>
              <a:rPr b="0">
                <a:solidFill>
                  <a:srgbClr val="64748B"/>
                </a:solidFill>
              </a:rPr>
              <a:t>One text field per record is the only strict requirement. Automatically parses nested advisory sections, paged documents, test_cases, and raw JSONL.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Advisory Record Schema &amp; Normalization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// Ingested JSONL Advisory Record:</a:t>
            </a:r>
            <a:br/>
            <a:r>
              <a:t>{</a:t>
            </a:r>
            <a:br/>
            <a:r>
              <a:t>  "passage_id": "3817e6a6596d",</a:t>
            </a:r>
            <a:br/>
            <a:r>
              <a:t>  "passage_tag": "PUN-0001",</a:t>
            </a:r>
            <a:br/>
            <a:r>
              <a:t>  "crops": ["WHEAT"],</a:t>
            </a:r>
            <a:br/>
            <a:r>
              <a:t>  "stages": ["Sowing"],</a:t>
            </a:r>
            <a:br/>
            <a:r>
              <a:t>  "subjects": ["WHEAT (Sowing)"],</a:t>
            </a:r>
            <a:br/>
            <a:r>
              <a:t>  "text": "Farmers are advised to sow PBW 752 with Happy Seeder..."</a:t>
            </a:r>
            <a:br/>
            <a:r>
              <a:t>}</a:t>
            </a:r>
            <a:br/>
            <a:br/>
            <a:r>
              <a:t>// Normalized Internal Segment Document:</a:t>
            </a:r>
            <a:br/>
            <a:r>
              <a:t>{</a:t>
            </a:r>
            <a:br/>
            <a:r>
              <a:t>  "_id": ObjectId("..."),</a:t>
            </a:r>
            <a:br/>
            <a:r>
              <a:t>  "segmentIndex": 0,</a:t>
            </a:r>
            <a:br/>
            <a:r>
              <a:t>  "passageId": "3817e6a6596d",</a:t>
            </a:r>
            <a:br/>
            <a:r>
              <a:t>  "passageTag": "PUN-0001",</a:t>
            </a:r>
            <a:br/>
            <a:r>
              <a:t>  "crops": ["WHEAT"],</a:t>
            </a:r>
            <a:br/>
            <a:r>
              <a:t>  "stages": ["Sowing"],</a:t>
            </a:r>
            <a:br/>
            <a:r>
              <a:t>  "nerStatus": "pending",        // Predicted on demand</a:t>
            </a:r>
            <a:br/>
            <a:r>
              <a:t>  "sentences": [</a:t>
            </a:r>
            <a:br/>
            <a:r>
              <a:t>    { "lineIndex": 0, "text": "...", "entities": []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INFERENCE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On-Demand Windowed Inference &amp; Asynchronous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The model runs in a dynamic sliding window 10 passages ahead of the annotator, with zero network blocking.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7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Sliding Window Prediction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POST /api/documents/:id/predict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Client requests active passage + next 10 passages ({ from: index, count: 10 }).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Server only queries passages with status 'pending' or 'error'.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Passages already marked or verified by human are never overwritten.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Failed inference windows are immediately retryable with 1-click.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FIFO Background Write Queue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Optimistic Local Updates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Every span addition, category change, or deletion reflects instantly on UI.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Write requests enter a strictly ordered client-side FIFO queue.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Prevents race conditions in segment-level read-modify-write transactions.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Returns compact status counts instead of echoing 12.8MB document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3. Granular State Preservation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Immutable Original Copy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Model predictions saved to immutable originalEntities field in MongoDB.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Line-level reset (POST .../reset-line) restores AI predictions for one sentence.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Arrow keys (&lt; / &gt;) auto-commit pending edits before switching passages.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FRONTEND UI &amp; UX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The Passage Annotation Workbench: 3-Column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Designed around the full passage rather than isolated sentences, maintaining agronomic context and rapid keyboard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8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Left Panel: Spans Deck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Component: SpanListPanel.jsx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Live Spans Roster: Lists every entity in the current passage.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Sentence Index Badges: Displays which sentence line each span belongs to.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One-Click Actions: Approve individual spans, 'Approve All' passage spans, or delete false positives.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Provenance Badges: Clearly distinguishes model-proposed vs human-added 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Center Panel: Passage Reader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Component: PassageAnnotationCard.jsx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Gutter-Numbered Sentences: Displays all sentences in the advisory consecutively (20px serif font).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Dual-Style Underlines: Solid colored underline for model proposals; dashed underline for human tags.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Tag Captions: Rendered below spans with entity type and remove button.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Context Headers: Displays PUN advisory tag, target crops, growth stages, and subjects.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Right Rail: 37 Entity Palette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Component: EntityPaletteSidebar.jsx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Always-Open Rail: Eliminates hidden dropdowns; all 37 classes always accessible.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Dynamic Recently Used: Follows real usage patterns rather than fixed defaults.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Numeric Shortcuts: 1-9 apply key labels immediately without mouse movement.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Live Typeahead Search: Press '/' to trigger instant filter across all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ALGORITHMS &amp;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The Exact Character Offset Engine (`selectionOffsets.js`)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Eliminating string-search offset drift and repeated-token collision through DOM Range subtree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9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The Legacy Fallback Flaw vs New Engine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The Legacy Problem: </a:t>
            </a:r>
            <a:r>
              <a:rPr b="0">
                <a:solidFill>
                  <a:srgbClr val="64748B"/>
                </a:solidFill>
              </a:rPr>
              <a:t>Old tools estimated offsets by measuring rendered text before selection and hunting within 50 characters, falling back to the first occurrence in the sentence.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Caption Pollution: </a:t>
            </a:r>
            <a:r>
              <a:rPr b="0">
                <a:solidFill>
                  <a:srgbClr val="64748B"/>
                </a:solidFill>
              </a:rPr>
              <a:t>The small tag captions ('Crop ×') rendered inside the container. An 8-span sentence was 81 characters off. Fallbacks repeatedly tagged the wrong occurrence of repeated words (e.g. multiple 'wheat' tokens).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The New Algorithm: </a:t>
            </a:r>
            <a:r>
              <a:rPr b="0">
                <a:solidFill>
                  <a:srgbClr val="64748B"/>
                </a:solidFill>
              </a:rPr>
              <a:t>Clones the DOM Range preceding the selection, recursively strips all elements marked with data-caption, and measures the exact character length.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select-none Protection: </a:t>
            </a:r>
            <a:r>
              <a:rPr b="0">
                <a:solidFill>
                  <a:srgbClr val="64748B"/>
                </a:solidFill>
              </a:rPr>
              <a:t>Captions marked select-none so user selections never drag across tag labels.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Guaranteed Alignment: </a:t>
            </a:r>
            <a:r>
              <a:rPr b="0">
                <a:solidFill>
                  <a:srgbClr val="64748B"/>
                </a:solidFill>
              </a:rPr>
              <a:t>Span text is sliced directly from sentence.text at the measured offsets. Text and offsets cannot disagree.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DOM Range Offset Measurement Algorithm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Consolas"/>
              </a:defRPr>
            </a:pPr>
            <a:r>
              <a:t>export function getSelectionOffsets(rootNode, rawSentenceText) {</a:t>
            </a:r>
            <a:br/>
            <a:r>
              <a:t>  const selection = window.getSelection();</a:t>
            </a:r>
            <a:br/>
            <a:r>
              <a:t>  if (!selection.rangeCount) return null;</a:t>
            </a:r>
            <a:br/>
            <a:r>
              <a:t>  const range = selection.getRangeAt(0);</a:t>
            </a:r>
            <a:br/>
            <a:br/>
            <a:r>
              <a:t>  // 1. Measure start offset: clone range from root start to selection start</a:t>
            </a:r>
            <a:br/>
            <a:r>
              <a:t>  const preRange = range.cloneRange();</a:t>
            </a:r>
            <a:br/>
            <a:r>
              <a:t>  preRange.selectNodeContents(rootNode);</a:t>
            </a:r>
            <a:br/>
            <a:r>
              <a:t>  preRange.setEnd(range.startContainer, range.startOffset);</a:t>
            </a:r>
            <a:br/>
            <a:r>
              <a:t>  </a:t>
            </a:r>
            <a:br/>
            <a:r>
              <a:t>  // 2. Clone fragment &amp; remove all caption subtrees ([data-caption])</a:t>
            </a:r>
            <a:br/>
            <a:r>
              <a:t>  const fragment = preRange.cloneContents();</a:t>
            </a:r>
            <a:br/>
            <a:r>
              <a:t>  fragment.querySelectorAll('[data-caption]').forEach(el =&gt; el.remove());</a:t>
            </a:r>
            <a:br/>
            <a:r>
              <a:t>  const start = fragment.textContent.length;</a:t>
            </a:r>
            <a:br/>
            <a:r>
              <a:t>  </a:t>
            </a:r>
            <a:br/>
            <a:r>
              <a:t>  // 3. Measure selected text fragment length (excluding captions)</a:t>
            </a:r>
            <a:br/>
            <a:r>
              <a:t>  const selFragment = range.cloneContents();</a:t>
            </a:r>
            <a:br/>
            <a:r>
              <a:t>  selFragment.querySelectorAll('[data-caption]').forEach(el =&gt; el.remove());</a:t>
            </a:r>
            <a:br/>
            <a:r>
              <a:t>  const length = selFragment.textContent.length;</a:t>
            </a:r>
            <a:br/>
            <a:r>
              <a:t>  const end = start + length;</a:t>
            </a:r>
            <a:br/>
            <a:br/>
            <a:r>
              <a:t>  // 4. Extract exact substring from authoritative text</a:t>
            </a:r>
            <a:br/>
            <a:r>
              <a:t>  return { start, end, text: rawSentenceText.slice(start, end)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PERSISTENCE &amp;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Granular State Persistence &amp; Non-Destructive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Ensuring high concurrency, non-destructive line edits, and sub-millisecond local response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10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MongoDB Schema Architecture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Two-Tier Model: </a:t>
            </a:r>
            <a:r>
              <a:rPr b="0">
                <a:solidFill>
                  <a:srgbClr val="64748B"/>
                </a:solidFill>
              </a:rPr>
              <a:t>Document model stores top-level metadata, statistics, and segment references. Segment model stores sentence arrays and entities.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Dual Entity Arrays: </a:t>
            </a:r>
            <a:r>
              <a:rPr b="0">
                <a:solidFill>
                  <a:srgbClr val="64748B"/>
                </a:solidFill>
              </a:rPr>
              <a:t>Each sentence maintains originalEntities (immutable model cache) and entities (active mutable annotations with provenance).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Provenance Tracking: </a:t>
            </a:r>
            <a:r>
              <a:rPr b="0">
                <a:solidFill>
                  <a:srgbClr val="64748B"/>
                </a:solidFill>
              </a:rPr>
              <a:t>Every entity records start, end, label, text, source ('model' | 'human'), verified (boolean), status ('accepted' | 'approved' | 'edited'), and confidence.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Compact Write Payloads: </a:t>
            </a:r>
            <a:r>
              <a:rPr b="0">
                <a:solidFill>
                  <a:srgbClr val="64748B"/>
                </a:solidFill>
              </a:rPr>
              <a:t>Instead of returning the entire document tree (12.8MB in large files), API endpoints return concise status codes and updated entity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Controller Execution Logic</a:t>
            </a:r>
          </a:p>
          <a:p>
            <a:pPr>
              <a:spcBef>
                <a:spcPts val="800"/>
              </a:spcBef>
              <a:defRPr b="1">
                <a:solidFill>
                  <a:srgbClr val="1E293B"/>
                </a:solidFill>
              </a:defRPr>
            </a:pPr>
            <a:r>
              <a:t>PUT .../line-entities: </a:t>
            </a:r>
            <a:r>
              <a:rPr b="0">
                <a:solidFill>
                  <a:srgbClr val="64748B"/>
                </a:solidFill>
              </a:rPr>
              <a:t>Commits human additions, removals, and relabels for a single sentence line index without locking or modifying adjacent sentences.</a:t>
            </a:r>
          </a:p>
          <a:p>
            <a:pPr>
              <a:spcBef>
                <a:spcPts val="800"/>
              </a:spcBef>
              <a:defRPr b="1">
                <a:solidFill>
                  <a:srgbClr val="1E293B"/>
                </a:solidFill>
              </a:defRPr>
            </a:pPr>
            <a:r>
              <a:t>POST .../reset-line: </a:t>
            </a:r>
            <a:r>
              <a:rPr b="0">
                <a:solidFill>
                  <a:srgbClr val="64748B"/>
                </a:solidFill>
              </a:rPr>
              <a:t>Reverts a single line back to original AI predictions by copying originalEntities to entities, restoring accidental deletions.</a:t>
            </a:r>
          </a:p>
          <a:p>
            <a:pPr>
              <a:spcBef>
                <a:spcPts val="800"/>
              </a:spcBef>
              <a:defRPr b="1">
                <a:solidFill>
                  <a:srgbClr val="1E293B"/>
                </a:solidFill>
              </a:defRPr>
            </a:pPr>
            <a:r>
              <a:t>Unsaved Changes Protection: </a:t>
            </a:r>
            <a:r>
              <a:rPr b="0">
                <a:solidFill>
                  <a:srgbClr val="64748B"/>
                </a:solidFill>
              </a:rPr>
              <a:t>Navigating with keyboard arrows (Left/Right) automatically flushes pending edits to MongoDB before switching passage contexts.</a:t>
            </a:r>
          </a:p>
          <a:p>
            <a:pPr>
              <a:spcBef>
                <a:spcPts val="800"/>
              </a:spcBef>
              <a:defRPr b="1">
                <a:solidFill>
                  <a:srgbClr val="1E293B"/>
                </a:solidFill>
              </a:defRPr>
            </a:pPr>
            <a:r>
              <a:t>Batch Window Updates: </a:t>
            </a:r>
            <a:r>
              <a:rPr b="0">
                <a:solidFill>
                  <a:srgbClr val="64748B"/>
                </a:solidFill>
              </a:rPr>
              <a:t>predictController executes windowed bulk updates directly on Segment models using Mongoose bulkWrite() for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EXPORT &amp; MACHINE LEARNING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DatasetBuilder: Production Multi-Format Export 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Exports authoritative single-file datasets that serve both fine-tuning and honest gold-standard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11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Enriched Single-File Export</a:t>
            </a:r>
          </a:p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GET /api/documents/:id/dataset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Returns uploaded JSONL with original fields in identical order.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Appends entities array and annotation summary block.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Negative Examples Preserved: Passages with no entities remain (essential for training).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Round-Trip Re-import: Exported file can be re-uploaded to continue work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Hugging Face Datasets</a:t>
            </a:r>
          </a:p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?format=hf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Tokens array with tokenized subwords/words.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ner_tags (string BIO tags: 'B-Crop', 'I-Crop').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ner_ids (integer IDs dynamically mapped to bio_label_to_id from manifest).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Ready for Hugging Face Trainer &amp; evaluate.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CoNLL BIO &amp; SpaCy</a:t>
            </a:r>
          </a:p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?format=conll | spacy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Tab-separated word and BIO tag formatting.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Conflict Resolution: Overlaps resolved by human-verified first, then length, then confidence.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Token-safe hyphens: 'mid-December' split to keep 'December' span valid in BIO.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Label Studio Official Tasks</a:t>
            </a:r>
          </a:p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GET .../label-studio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Official Label Studio JSON schema.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Pre-annotations section with AgNER-BERTa scores.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Annotations section with human verified tags.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One-click import into enterprise Label Studio setups.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DEVOPS &amp; CLOUD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Unified Production Containerization &amp; 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Single multi-stage Docker container orchestrating Node.js, FastAPI, PyTorch, and hardened networking.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12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Container Orchestration Architecture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Unified Single Container: </a:t>
            </a:r>
            <a:r>
              <a:rPr b="0">
                <a:solidFill>
                  <a:srgbClr val="64748B"/>
                </a:solidFill>
              </a:rPr>
              <a:t>Bundles Node.js runtime and Python 3.10+ in one production image (NER-App/Dockerfile) managed by start.sh startup script.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Micro-Batching: </a:t>
            </a:r>
            <a:r>
              <a:rPr b="0">
                <a:solidFill>
                  <a:srgbClr val="64748B"/>
                </a:solidFill>
              </a:rPr>
              <a:t>Segment prediction requests split into chunks of 5 segments, keeping latency well under reverse proxy 60-second timeouts (eliminating 502 Bad Gateway).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Hardened Dynamic CORS: </a:t>
            </a:r>
            <a:r>
              <a:rPr b="0">
                <a:solidFill>
                  <a:srgbClr val="64748B"/>
                </a:solidFill>
              </a:rPr>
              <a:t>Configured with dynamic origin reflection (origin: true), preflight catch-all (app.options('*')), and error middleware header persistence.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Zero-Dependency Fast Boot: </a:t>
            </a:r>
            <a:r>
              <a:rPr b="0">
                <a:solidFill>
                  <a:srgbClr val="64748B"/>
                </a:solidFill>
              </a:rPr>
              <a:t>Model safetensors loaded via AutoModelForTokenClassification.from_pretrained() with local cache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start.sh Container Startup Orchestration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#!/usr/bin/env bash</a:t>
            </a:r>
            <a:br/>
            <a:r>
              <a:t>set -e</a:t>
            </a:r>
            <a:br/>
            <a:br/>
            <a:r>
              <a:t>echo "Starting AgNER Production Container Services..."</a:t>
            </a:r>
            <a:br/>
            <a:br/>
            <a:r>
              <a:t># 1. Start Python FastAPI AI Inference Service</a:t>
            </a:r>
            <a:br/>
            <a:r>
              <a:t>export TORCH_THREADS=2</a:t>
            </a:r>
            <a:br/>
            <a:r>
              <a:t>export CHUNK_WORDS=200</a:t>
            </a:r>
            <a:br/>
            <a:r>
              <a:t>cd /app/NER-App/python-ai-service</a:t>
            </a:r>
            <a:br/>
            <a:r>
              <a:t>uvicorn app:app --host 127.0.0.1 --port 8000 &amp;</a:t>
            </a:r>
            <a:br/>
            <a:r>
              <a:t>AI_PID=$!</a:t>
            </a:r>
            <a:br/>
            <a:br/>
            <a:r>
              <a:t># 2. Wait for AI Service /health check</a:t>
            </a:r>
            <a:br/>
            <a:r>
              <a:t>until curl -s http://127.0.0.1:8000/health &gt; /dev/null; do</a:t>
            </a:r>
            <a:br/>
            <a:r>
              <a:t>  echo "Waiting for AgNER-BERTa checkpoint to load..."</a:t>
            </a:r>
            <a:br/>
            <a:r>
              <a:t>  sleep 1</a:t>
            </a:r>
            <a:br/>
            <a:r>
              <a:t>done</a:t>
            </a:r>
            <a:br/>
            <a:r>
              <a:t>echo "AgNER-BERTa AI Engine Online (36 Model Classes)"</a:t>
            </a:r>
            <a:br/>
            <a:br/>
            <a:r>
              <a:t># 3. Start Node.js Express Backend</a:t>
            </a:r>
            <a:br/>
            <a:r>
              <a:t>cd /app/NER-App/backend</a:t>
            </a:r>
            <a:br/>
            <a:r>
              <a:t>node src/server.js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End-to-End Operational Lifecycle: From Raw Advisory to Gold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The complete step-by-step lifecycle of an agricultural advisory document in the AgNER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13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1: Upload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Raw Advisory Ingestion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Upload .jsonl or .json advisory file.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Parses text and Punjab PAU metadata in 67ms.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Passages saved to MongoDB as 'pending'.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2: Stream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On-Demand Window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Workbench opens passage 1 immediately.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AI service predicts passages 1-10 ahead.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AgNER-BERTa proposes 36 classes with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3: Review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Passage Workbench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Annotator reviews numbered sentences.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Solid underline: model proposals.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Dashed underline: manual human markup.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Quick hotkeys: 1-9 label, '/' searches.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4: Verify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Granular Auditing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Hit 'A' to Approve entire passage.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Delete false positives, add missing seeders.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Edits queued and saved via FIFO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5: Export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Dataset Generation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One-click direct browser file download.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Emits original JSONL with verified entities.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Preserves negative samples &amp; metadata.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Ready for CoNLL / HF Trainer fine-tuning.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Summary of Achievements, Research Impact &amp; Next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Bridging the gap between cutting-edge NLP research and real-world agricultural field advisories.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AgNER Suite • Agricultural Named Entity Recognition &amp; Human-in-the-Loop Workbench    |    Slide 14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Engineering Milestones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Zero-Wait Ingestion: From minutes to 67ms for 300+ passage files.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Exact Character Offsets: Zero alignment errors on repeated tokens via DOM Range engine.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Non-Destructive Persistence: Fine-grained sentence-level saves and immutable resets.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Human Provenance Tracking: Explicitly recording whether each span was verified by a human or generated by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Scientific Contribution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Beating General LLMs: Confirmed ESWA 2025 findings that fine-tuned encoders with domain augmentation outperform generative LLMs in agricultural NER.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Auditable Gold Datasets: Single-file export distinguishing verified spans from raw AI output.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Negative Sample Preservation: Preventing model over-prediction bias by retaining entity-free sentences.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Future Project Roadmap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Active Learning Loop: Auto-triggering model fine-tuning checkpoints when verified spans cross volume thresholds.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Relation Extraction (RE): Marking relations between entities (e.g. Chemical 'Urea' -&gt; applied_to -&gt; Crop 'Wheat').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Multilingual Advisory Support: Expanding tokenizer and models to Hindi, Punjabi (Gurmukhi), and Marathi state bulletins.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